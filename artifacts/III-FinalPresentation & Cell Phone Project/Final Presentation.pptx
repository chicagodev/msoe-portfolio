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8" r:id="rId1"/>
  </p:sldMasterIdLst>
  <p:notesMasterIdLst>
    <p:notesMasterId r:id="rId20"/>
  </p:notesMasterIdLst>
  <p:sldIdLst>
    <p:sldId id="256" r:id="rId2"/>
    <p:sldId id="267" r:id="rId3"/>
    <p:sldId id="274" r:id="rId4"/>
    <p:sldId id="268" r:id="rId5"/>
    <p:sldId id="269" r:id="rId6"/>
    <p:sldId id="270" r:id="rId7"/>
    <p:sldId id="271" r:id="rId8"/>
    <p:sldId id="272" r:id="rId9"/>
    <p:sldId id="273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outlineView">
  <p:normalViewPr showOutlineIcons="0">
    <p:restoredLeft sz="34564" autoAdjust="0"/>
    <p:restoredTop sz="86433"/>
  </p:normalViewPr>
  <p:slideViewPr>
    <p:cSldViewPr snapToGrid="0">
      <p:cViewPr varScale="1">
        <p:scale>
          <a:sx n="93" d="100"/>
          <a:sy n="93" d="100"/>
        </p:scale>
        <p:origin x="232" y="528"/>
      </p:cViewPr>
      <p:guideLst/>
    </p:cSldViewPr>
  </p:slideViewPr>
  <p:outlineViewPr>
    <p:cViewPr>
      <p:scale>
        <a:sx n="33" d="100"/>
        <a:sy n="33" d="100"/>
      </p:scale>
      <p:origin x="0" y="-8408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A1BFA7-3858-3541-B6D8-DE8D6C57328E}" type="datetimeFigureOut">
              <a:rPr lang="en-US" smtClean="0"/>
              <a:t>12/24/24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EAD848-1BB2-E142-92F4-A86EECDCA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8246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EAD848-1BB2-E142-92F4-A86EECDCA8F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72260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EAD848-1BB2-E142-92F4-A86EECDCA8F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626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EAD848-1BB2-E142-92F4-A86EECDCA8F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2692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EAD848-1BB2-E142-92F4-A86EECDCA8F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6203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EAD848-1BB2-E142-92F4-A86EECDCA8F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8126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EAD848-1BB2-E142-92F4-A86EECDCA8F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9167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EAD848-1BB2-E142-92F4-A86EECDCA8F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31645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EAD848-1BB2-E142-92F4-A86EECDCA8F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48198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EAD848-1BB2-E142-92F4-A86EECDCA8F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6329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EAD848-1BB2-E142-92F4-A86EECDCA8F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03149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EAD848-1BB2-E142-92F4-A86EECDCA8F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42646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EAD848-1BB2-E142-92F4-A86EECDCA8F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87829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12/24/24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5420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12/24/24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59600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12/24/24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339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12/24/24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3079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12/24/24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3440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12/24/24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661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12/24/24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1795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12/24/24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6342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12/24/24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6094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12/24/24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1441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12/24/24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8808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12/24/24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8691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4" r:id="rId2"/>
    <p:sldLayoutId id="2147483695" r:id="rId3"/>
    <p:sldLayoutId id="2147483696" r:id="rId4"/>
    <p:sldLayoutId id="2147483697" r:id="rId5"/>
    <p:sldLayoutId id="2147483691" r:id="rId6"/>
    <p:sldLayoutId id="2147483687" r:id="rId7"/>
    <p:sldLayoutId id="2147483688" r:id="rId8"/>
    <p:sldLayoutId id="2147483689" r:id="rId9"/>
    <p:sldLayoutId id="2147483690" r:id="rId10"/>
    <p:sldLayoutId id="2147483692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6CBEBF9-7A1A-0804-5CB3-F5711247F00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5250" r="9085" b="-7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57DEAC1-B3AA-6569-0A44-A191DF2F3C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486400"/>
            <a:ext cx="12191999" cy="1371600"/>
          </a:xfrm>
          <a:prstGeom prst="rect">
            <a:avLst/>
          </a:prstGeom>
          <a:solidFill>
            <a:schemeClr val="bg1">
              <a:alpha val="8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0040" y="5715000"/>
            <a:ext cx="8027544" cy="960120"/>
          </a:xfrm>
          <a:ln>
            <a:noFill/>
          </a:ln>
        </p:spPr>
        <p:txBody>
          <a:bodyPr anchor="ctr">
            <a:normAutofit fontScale="90000"/>
          </a:bodyPr>
          <a:lstStyle/>
          <a:p>
            <a:r>
              <a:rPr lang="en-US" sz="3600" dirty="0"/>
              <a:t>Cellphones in schools: </a:t>
            </a:r>
            <a:br>
              <a:rPr lang="en-US" sz="3600" dirty="0"/>
            </a:br>
            <a:r>
              <a:rPr lang="en-US" sz="3600" dirty="0"/>
              <a:t>A Policy Review &amp; Analysis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347585" y="5715000"/>
            <a:ext cx="3630168" cy="960120"/>
          </a:xfrm>
        </p:spPr>
        <p:txBody>
          <a:bodyPr anchor="ctr">
            <a:normAutofit/>
          </a:bodyPr>
          <a:lstStyle/>
          <a:p>
            <a:pPr algn="r"/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BC488-C315-DA90-D8E0-7B5A89252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14C045-A20B-C685-4789-081AE8C484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Statement</a:t>
            </a:r>
            <a:r>
              <a:rPr lang="en-US" baseline="0" dirty="0"/>
              <a:t> or Definition of the Problem*</a:t>
            </a:r>
          </a:p>
          <a:p>
            <a:pPr lvl="1"/>
            <a:r>
              <a:rPr lang="en-US" baseline="0" dirty="0"/>
              <a:t>Cell phones in classrooms has been a consistent concern of teachers for over a decade</a:t>
            </a:r>
          </a:p>
          <a:p>
            <a:pPr lvl="1"/>
            <a:r>
              <a:rPr lang="en-US" baseline="0" dirty="0"/>
              <a:t>As cell phones have become more advanced, they’ve also increased their ability to distract</a:t>
            </a:r>
          </a:p>
          <a:p>
            <a:pPr lvl="2"/>
            <a:r>
              <a:rPr lang="en-US" baseline="0" dirty="0"/>
              <a:t>On average, students receive 273 notifications per day</a:t>
            </a:r>
          </a:p>
          <a:p>
            <a:pPr lvl="1"/>
            <a:r>
              <a:rPr lang="en-US" baseline="0" dirty="0"/>
              <a:t>Recently, an </a:t>
            </a:r>
            <a:r>
              <a:rPr lang="en-US" baseline="0" dirty="0" err="1"/>
              <a:t>additieonal</a:t>
            </a:r>
            <a:r>
              <a:rPr lang="en-US" baseline="0" dirty="0"/>
              <a:t> concern with cell phones a teens, in general, has arisen</a:t>
            </a:r>
          </a:p>
          <a:p>
            <a:pPr lvl="2"/>
            <a:r>
              <a:rPr lang="en-US" baseline="0" dirty="0"/>
              <a:t>Mental health consequences of phones in general</a:t>
            </a:r>
          </a:p>
          <a:p>
            <a:pPr lvl="2"/>
            <a:r>
              <a:rPr lang="en-US" baseline="0" dirty="0"/>
              <a:t>If cell phones are negatively impacting student mental health, how could the permissibility of phones on campus be congruent with the greater emphasis put on mental health care.</a:t>
            </a:r>
          </a:p>
          <a:p>
            <a:pPr lvl="1"/>
            <a:r>
              <a:rPr lang="en-US" baseline="0" dirty="0"/>
              <a:t>Based on most recent developments, cell phones in school has entered the zeitgeist</a:t>
            </a:r>
          </a:p>
          <a:p>
            <a:pPr lvl="2"/>
            <a:r>
              <a:rPr lang="en-US" baseline="0" dirty="0"/>
              <a:t>Cell phones in schools is no </a:t>
            </a:r>
            <a:r>
              <a:rPr lang="en-US" baseline="0" dirty="0" err="1"/>
              <a:t>longersomething</a:t>
            </a:r>
            <a:r>
              <a:rPr lang="en-US" baseline="0" dirty="0"/>
              <a:t> for schools to merely tolerate, but must directly addressed. </a:t>
            </a:r>
          </a:p>
          <a:p>
            <a:pPr lvl="2"/>
            <a:r>
              <a:rPr lang="en-US" baseline="0" dirty="0"/>
              <a:t>To gain a deeper understanding of this issue, I decided to perform a policy review of my school’s cell phone policy. </a:t>
            </a:r>
          </a:p>
        </p:txBody>
      </p:sp>
    </p:spTree>
    <p:extLst>
      <p:ext uri="{BB962C8B-B14F-4D97-AF65-F5344CB8AC3E}">
        <p14:creationId xmlns:p14="http://schemas.microsoft.com/office/powerpoint/2010/main" val="1022325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5CC7B-B2AD-FE0E-FA6C-C45531882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 baseline="0"/>
              <a:t>Project Charter Overview*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7D4A4-7AA8-DF01-7B23-C70ADB5DFF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baseline="0" dirty="0"/>
              <a:t>Reason for Project: “Administrators must monitor their institution's cell phone policy and ensure it aligns with the latest educational research in furtherance of providing students with the best education.”</a:t>
            </a:r>
          </a:p>
          <a:p>
            <a:pPr lvl="0"/>
            <a:r>
              <a:rPr lang="en-US" baseline="0" dirty="0"/>
              <a:t>Compare </a:t>
            </a:r>
            <a:r>
              <a:rPr lang="en-US" baseline="0" dirty="0" err="1"/>
              <a:t>LSoC’s</a:t>
            </a:r>
            <a:r>
              <a:rPr lang="en-US" baseline="0" dirty="0"/>
              <a:t> cell phone policy with peer schools. Determine if it aligns with current research.</a:t>
            </a:r>
          </a:p>
          <a:p>
            <a:pPr lvl="1"/>
            <a:r>
              <a:rPr lang="en-US" baseline="0" dirty="0"/>
              <a:t>Present findings</a:t>
            </a:r>
          </a:p>
          <a:p>
            <a:pPr lvl="0"/>
            <a:r>
              <a:rPr lang="en-US" dirty="0"/>
              <a:t>Key Stakeholders</a:t>
            </a:r>
          </a:p>
          <a:p>
            <a:pPr lvl="1"/>
            <a:r>
              <a:rPr lang="en-US" dirty="0"/>
              <a:t>On site supervisor: Karen Horvath</a:t>
            </a:r>
          </a:p>
          <a:p>
            <a:pPr lvl="1"/>
            <a:r>
              <a:rPr lang="en-US" dirty="0"/>
              <a:t>Stakeholders: Entire school community</a:t>
            </a:r>
          </a:p>
        </p:txBody>
      </p:sp>
    </p:spTree>
    <p:extLst>
      <p:ext uri="{BB962C8B-B14F-4D97-AF65-F5344CB8AC3E}">
        <p14:creationId xmlns:p14="http://schemas.microsoft.com/office/powerpoint/2010/main" val="11796283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34F1A-CE74-DE0B-B3B2-27E7AE53B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Summary of Key Elements (Scope document will be useful here)*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CAD47A-429E-4EBC-2717-A1C1F0C416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The Aim of the Project</a:t>
            </a:r>
          </a:p>
          <a:p>
            <a:pPr lvl="1"/>
            <a:r>
              <a:rPr lang="en-US" dirty="0"/>
              <a:t>“Create a 5-7 minute PowerPoint presentation that reviews the Latin School of Chicago’s cell phone policy, its impacts, and how it aligns with the latest research and best practices in the education field.”</a:t>
            </a:r>
          </a:p>
          <a:p>
            <a:r>
              <a:rPr lang="en-US" dirty="0"/>
              <a:t>What data was used</a:t>
            </a:r>
          </a:p>
          <a:p>
            <a:pPr lvl="1"/>
            <a:r>
              <a:rPr lang="en-US" dirty="0"/>
              <a:t>Two on-site cell phone surveys</a:t>
            </a:r>
          </a:p>
          <a:p>
            <a:pPr lvl="0"/>
            <a:r>
              <a:rPr lang="en-US" dirty="0"/>
              <a:t>Out of scope: </a:t>
            </a:r>
          </a:p>
          <a:p>
            <a:pPr lvl="1"/>
            <a:r>
              <a:rPr lang="en-US" dirty="0"/>
              <a:t>No effort</a:t>
            </a:r>
            <a:r>
              <a:rPr lang="en-US" baseline="0" dirty="0"/>
              <a:t> to change any internal policies</a:t>
            </a:r>
          </a:p>
          <a:p>
            <a:pPr lvl="1"/>
            <a:r>
              <a:rPr lang="en-US" dirty="0"/>
              <a:t>Input or support from senior leadership, US leadership would provide limited support</a:t>
            </a:r>
          </a:p>
          <a:p>
            <a:pPr lvl="0"/>
            <a:r>
              <a:rPr lang="en-US" dirty="0"/>
              <a:t>Constraints</a:t>
            </a:r>
          </a:p>
          <a:p>
            <a:pPr lvl="1"/>
            <a:r>
              <a:rPr lang="en-US" dirty="0"/>
              <a:t>Only one faculty survey</a:t>
            </a:r>
            <a:r>
              <a:rPr lang="en-US" baseline="0" dirty="0"/>
              <a:t> permitted per school year</a:t>
            </a:r>
          </a:p>
          <a:p>
            <a:pPr lvl="1"/>
            <a:r>
              <a:rPr lang="en-US" dirty="0"/>
              <a:t>Access to other school’s information may be limited</a:t>
            </a:r>
          </a:p>
        </p:txBody>
      </p:sp>
    </p:spTree>
    <p:extLst>
      <p:ext uri="{BB962C8B-B14F-4D97-AF65-F5344CB8AC3E}">
        <p14:creationId xmlns:p14="http://schemas.microsoft.com/office/powerpoint/2010/main" val="15457843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81601-674C-7AA3-87D8-44396FF51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 dirty="0"/>
              <a:t>What were the measures of success?*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D0A69D-2B16-DC9E-2870-A97C28D55E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data was used to define project focus?</a:t>
            </a:r>
          </a:p>
          <a:p>
            <a:r>
              <a:rPr lang="en-US" dirty="0"/>
              <a:t>What data was used to measure progress?</a:t>
            </a:r>
          </a:p>
          <a:p>
            <a:r>
              <a:rPr lang="en-US" dirty="0"/>
              <a:t>What data was used to provide evidence of success?</a:t>
            </a:r>
          </a:p>
          <a:p>
            <a:r>
              <a:rPr lang="en-US" dirty="0"/>
              <a:t>Success in this project was</a:t>
            </a:r>
            <a:r>
              <a:rPr lang="en-US" baseline="0" dirty="0"/>
              <a:t> to perform a comprehensive, holistic analysis and present it to stakeholders</a:t>
            </a:r>
          </a:p>
          <a:p>
            <a:pPr lvl="1"/>
            <a:r>
              <a:rPr lang="en-US" dirty="0"/>
              <a:t>Latin’s policy, examine its impacts, and express </a:t>
            </a:r>
            <a:r>
              <a:rPr lang="en-US" dirty="0" err="1"/>
              <a:t>facultys</a:t>
            </a:r>
            <a:r>
              <a:rPr lang="en-US" dirty="0"/>
              <a:t> perspective on the issue. Also must contrast with best practices and at least one other school.</a:t>
            </a:r>
          </a:p>
        </p:txBody>
      </p:sp>
    </p:spTree>
    <p:extLst>
      <p:ext uri="{BB962C8B-B14F-4D97-AF65-F5344CB8AC3E}">
        <p14:creationId xmlns:p14="http://schemas.microsoft.com/office/powerpoint/2010/main" val="41617869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9D4FB-7D6D-124A-81DF-B08D0E3BA5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</a:t>
            </a:r>
            <a:r>
              <a:rPr lang="en-US" baseline="0" dirty="0"/>
              <a:t> changes were made from beginning to end of project?*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0D4F19-6BB3-AB29-5561-C59C7CEEA7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Caught by surprise:</a:t>
            </a:r>
          </a:p>
          <a:p>
            <a:pPr lvl="1"/>
            <a:r>
              <a:rPr lang="en-US" dirty="0"/>
              <a:t>Latin</a:t>
            </a:r>
            <a:r>
              <a:rPr lang="en-US" baseline="0" dirty="0"/>
              <a:t> decides, independently, to create a new cell phone policy in the midst of the project</a:t>
            </a:r>
          </a:p>
          <a:p>
            <a:pPr lvl="2"/>
            <a:r>
              <a:rPr lang="en-US" dirty="0"/>
              <a:t>Positive benefit to the project, as it opened the door to A-B testing of our on-site policy</a:t>
            </a:r>
          </a:p>
        </p:txBody>
      </p:sp>
    </p:spTree>
    <p:extLst>
      <p:ext uri="{BB962C8B-B14F-4D97-AF65-F5344CB8AC3E}">
        <p14:creationId xmlns:p14="http://schemas.microsoft.com/office/powerpoint/2010/main" val="35621383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95E29-A760-46D9-2295-F1F8A4FC9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How did your project interface with school culture, character education, and/or ethical practice?*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748BC5-3353-49BA-4DA3-0FECDA8EE5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project interfaced with the school culture</a:t>
            </a:r>
            <a:r>
              <a:rPr lang="en-US" baseline="0" dirty="0"/>
              <a:t> strongly</a:t>
            </a:r>
          </a:p>
          <a:p>
            <a:pPr lvl="1"/>
            <a:r>
              <a:rPr lang="en-US" dirty="0"/>
              <a:t>At the time of starting my project, the cell phone problem was a frequent topic of conversation with faculty</a:t>
            </a:r>
          </a:p>
          <a:p>
            <a:pPr lvl="2"/>
            <a:r>
              <a:rPr lang="en-US" dirty="0"/>
              <a:t>And a source of frustration</a:t>
            </a:r>
          </a:p>
          <a:p>
            <a:pPr lvl="2"/>
            <a:r>
              <a:rPr lang="en-US" dirty="0"/>
              <a:t>So this integrated with the school culture of excellence</a:t>
            </a:r>
          </a:p>
          <a:p>
            <a:pPr lvl="3"/>
            <a:r>
              <a:rPr lang="en-US" dirty="0"/>
              <a:t>How could we providing</a:t>
            </a:r>
            <a:r>
              <a:rPr lang="en-US" baseline="0" dirty="0"/>
              <a:t> excellence with a distracted student population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72393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88CBA-5D1E-AFB6-EC2A-C6024D1C2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was the impact of project and what data was used as evidence of impact?*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4ED208-6FDE-59EC-749C-5ADE5FD21E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The impact of this project was to provide</a:t>
            </a:r>
            <a:r>
              <a:rPr lang="en-US" baseline="0" dirty="0"/>
              <a:t> fellow faculty and administrators with a wider view of the cell phone policy, provide </a:t>
            </a:r>
            <a:r>
              <a:rPr lang="en-US" baseline="0" dirty="0" err="1"/>
              <a:t>administraters</a:t>
            </a:r>
            <a:r>
              <a:rPr lang="en-US" baseline="0" dirty="0"/>
              <a:t> with hard data that they could add to tier analysis and reflection on the new policy</a:t>
            </a:r>
          </a:p>
          <a:p>
            <a:r>
              <a:rPr lang="en-US" baseline="0" dirty="0"/>
              <a:t>It is one thing to make a policy decision, another to evaluate its performance and to iterate and improve</a:t>
            </a:r>
          </a:p>
          <a:p>
            <a:r>
              <a:rPr lang="en-US" baseline="0" dirty="0"/>
              <a:t>As far as I know, there was not any other feedback mechanism built into this new policy besides anecdotal reports to administration</a:t>
            </a:r>
          </a:p>
          <a:p>
            <a:pPr lvl="1"/>
            <a:r>
              <a:rPr lang="en-US" dirty="0"/>
              <a:t>This would have been flawed because perhaps</a:t>
            </a:r>
            <a:r>
              <a:rPr lang="en-US" baseline="0" dirty="0"/>
              <a:t> important feedback could go missing merely because who are the faculty that frequently talk with administrators?</a:t>
            </a:r>
          </a:p>
          <a:p>
            <a:pPr lvl="0"/>
            <a:r>
              <a:rPr lang="en-US" dirty="0"/>
              <a:t>Data that is evidence of the project’s impact is that I was invited to present to</a:t>
            </a:r>
            <a:r>
              <a:rPr lang="en-US" baseline="0" dirty="0"/>
              <a:t> every</a:t>
            </a:r>
            <a:r>
              <a:rPr lang="en-US" sz="20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 in a faculty meeting – this recognized the importance </a:t>
            </a:r>
            <a:r>
              <a:rPr lang="en-US" sz="200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ofe</a:t>
            </a:r>
            <a:r>
              <a:rPr lang="en-US" sz="20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gathering this info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361747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1830F7-ED3F-649E-4794-1EAE66D5A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are the next steps for this project; is it ongoing or is it at completion?  Where will you/would you take it next if you were to continue to work on this issue and why?*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487020-4137-F6C5-BBB9-5829EA02FD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The next steps for this project is to </a:t>
            </a:r>
            <a:r>
              <a:rPr lang="en-US" dirty="0" err="1"/>
              <a:t>exapand</a:t>
            </a:r>
            <a:r>
              <a:rPr lang="en-US" baseline="0" dirty="0"/>
              <a:t> it. I</a:t>
            </a:r>
          </a:p>
          <a:p>
            <a:r>
              <a:rPr lang="en-US" baseline="0" dirty="0"/>
              <a:t>I have built a budding expertise of technology policies in schools</a:t>
            </a:r>
          </a:p>
          <a:p>
            <a:r>
              <a:rPr lang="en-US" baseline="0" dirty="0"/>
              <a:t>I hope to expand my reach in AI policy</a:t>
            </a:r>
          </a:p>
          <a:p>
            <a:r>
              <a:rPr lang="en-US" baseline="0" dirty="0"/>
              <a:t>Based on my experience and observations, I am eager to bring a forward-thinking and data-informed approach to school technology policies. </a:t>
            </a:r>
          </a:p>
          <a:p>
            <a:pPr lvl="1"/>
            <a:r>
              <a:rPr lang="en-US" dirty="0"/>
              <a:t>Through this experience I have discovered the importance of data collection and data-driven decision making</a:t>
            </a:r>
          </a:p>
          <a:p>
            <a:pPr lvl="1"/>
            <a:r>
              <a:rPr lang="en-US" dirty="0"/>
              <a:t>I have also discovered the challenge of collecting information that will yield actionable</a:t>
            </a:r>
            <a:r>
              <a:rPr lang="en-US" baseline="0" dirty="0"/>
              <a:t> </a:t>
            </a:r>
            <a:r>
              <a:rPr lang="en-US" dirty="0"/>
              <a:t>insight</a:t>
            </a:r>
          </a:p>
          <a:p>
            <a:pPr lvl="0"/>
            <a:r>
              <a:rPr lang="en-US" dirty="0"/>
              <a:t>I hope to find work as an educational administrator at schools that put educational technology at the forefront,</a:t>
            </a:r>
            <a:r>
              <a:rPr lang="en-US" baseline="0" dirty="0"/>
              <a:t> and also must grapple with the impediments that technology may impose</a:t>
            </a:r>
          </a:p>
          <a:p>
            <a:pPr lvl="0"/>
            <a:r>
              <a:rPr lang="en-US" baseline="0" dirty="0"/>
              <a:t>My expertise and background in computer science inform my understanding and vision for school policies that go even further</a:t>
            </a:r>
          </a:p>
          <a:p>
            <a:pPr lvl="1"/>
            <a:r>
              <a:rPr lang="en-US" dirty="0"/>
              <a:t>For example, schools need to be more strict in allowed devices (with special exceptions [computer labs])</a:t>
            </a:r>
          </a:p>
          <a:p>
            <a:pPr lvl="1"/>
            <a:r>
              <a:rPr lang="en-US" dirty="0"/>
              <a:t>Schools should only allow digital devices that they control into the classroom</a:t>
            </a:r>
          </a:p>
          <a:p>
            <a:pPr lvl="2"/>
            <a:r>
              <a:rPr lang="en-US" dirty="0"/>
              <a:t>In the surveys, it was brought up – are we just passing on this issue to other devices – smart watches?</a:t>
            </a:r>
            <a:r>
              <a:rPr lang="en-US" baseline="0" dirty="0"/>
              <a:t> iMessage?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87855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534C-CACF-5359-A628-373C2B981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Issue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1838AA-32EF-5619-0D4F-E448665BCF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6905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EACF71-D2D7-40DE-D418-C1ECF96EAC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Policies across schools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0B0D8C-28A0-A3F0-DF37-4BD1D9918D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3004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7CAA8-9BF1-40DF-503E-C54DAB75D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 my school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9A9D03-013E-8DBC-A0FF-0D2591432C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0009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BC558-303A-99B7-7131-5D927AC80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 phone survey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29876F-B799-5001-FBC9-290722710C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17862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B7D94D-873B-32FA-35FA-346B72AA9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Survey results alignment with academic studies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B5462E-37B8-C6B2-E13B-3A517B16FF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4515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21D30-3232-1A58-9C2C-35A34CF75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 The School's new cell phone policy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DDB907-03E9-CEB2-E4EA-80D4ADD618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3576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64C91-0B81-E09B-3D40-550B812C0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Impact of  the new policy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1270A0-C891-F5EF-8144-0DA28B80CF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6847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78344-7576-5212-4758-2F7111799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Faculty follow-up survey results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1EB70F-7A1A-B8FD-BB32-7003627E99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8188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B6FE1-859B-1694-7BA4-B778CC0D5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FD6B99-D1B2-FB28-BBD7-9670C6C3FA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40866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AnalogousFromLightSeedLeftStep">
      <a:dk1>
        <a:srgbClr val="000000"/>
      </a:dk1>
      <a:lt1>
        <a:srgbClr val="FFFFFF"/>
      </a:lt1>
      <a:dk2>
        <a:srgbClr val="213B37"/>
      </a:dk2>
      <a:lt2>
        <a:srgbClr val="E8E6E2"/>
      </a:lt2>
      <a:accent1>
        <a:srgbClr val="8BA3D2"/>
      </a:accent1>
      <a:accent2>
        <a:srgbClr val="67ADC4"/>
      </a:accent2>
      <a:accent3>
        <a:srgbClr val="73ADA3"/>
      </a:accent3>
      <a:accent4>
        <a:srgbClr val="64B184"/>
      </a:accent4>
      <a:accent5>
        <a:srgbClr val="6DB16D"/>
      </a:accent5>
      <a:accent6>
        <a:srgbClr val="83AF63"/>
      </a:accent6>
      <a:hlink>
        <a:srgbClr val="94805A"/>
      </a:hlink>
      <a:folHlink>
        <a:srgbClr val="7F7F7F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2862</TotalTime>
  <Words>965</Words>
  <Application>Microsoft Macintosh PowerPoint</Application>
  <PresentationFormat>Widescreen</PresentationFormat>
  <Paragraphs>85</Paragraphs>
  <Slides>18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Calisto MT</vt:lpstr>
      <vt:lpstr>Univers Condensed</vt:lpstr>
      <vt:lpstr>ChronicleVTI</vt:lpstr>
      <vt:lpstr>Cellphones in schools:  A Policy Review &amp; Analysis</vt:lpstr>
      <vt:lpstr>Background</vt:lpstr>
      <vt:lpstr>Project Charter Overview*</vt:lpstr>
      <vt:lpstr>Summary of Key Elements (Scope document will be useful here)*</vt:lpstr>
      <vt:lpstr>What were the measures of success?*</vt:lpstr>
      <vt:lpstr>What changes were made from beginning to end of project?*</vt:lpstr>
      <vt:lpstr>How did your project interface with school culture, character education, and/or ethical practice?*</vt:lpstr>
      <vt:lpstr>What was the impact of project and what data was used as evidence of impact?*</vt:lpstr>
      <vt:lpstr>What are the next steps for this project; is it ongoing or is it at completion?  Where will you/would you take it next if you were to continue to work on this issue and why?*</vt:lpstr>
      <vt:lpstr>The Issue</vt:lpstr>
      <vt:lpstr>Policies across schools</vt:lpstr>
      <vt:lpstr>At my school</vt:lpstr>
      <vt:lpstr>Initial phone survey</vt:lpstr>
      <vt:lpstr>Survey results alignment with academic studies</vt:lpstr>
      <vt:lpstr>About  The School's new cell phone policy</vt:lpstr>
      <vt:lpstr>Impact of  the new policy</vt:lpstr>
      <vt:lpstr>Faculty follow-up survey results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Cellphones in schools:  A Policy Review &amp; Analysis</dc:title>
  <dc:creator/>
  <cp:lastModifiedBy>Blake Gideon</cp:lastModifiedBy>
  <cp:revision>50</cp:revision>
  <dcterms:created xsi:type="dcterms:W3CDTF">2024-12-04T01:54:15Z</dcterms:created>
  <dcterms:modified xsi:type="dcterms:W3CDTF">2024-12-26T19:46:50Z</dcterms:modified>
</cp:coreProperties>
</file>