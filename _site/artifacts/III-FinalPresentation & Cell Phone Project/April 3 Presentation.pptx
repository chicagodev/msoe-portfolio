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p:regular r:id="rId14"/>
      <p:bold r:id="rId15"/>
      <p:italic r:id="rId16"/>
      <p:boldItalic r:id="rId17"/>
    </p:embeddedFont>
    <p:embeddedFont>
      <p:font typeface="Merriweath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erriweather-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Merriweather-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slide" Target="slides/slide1.xml"/><Relationship Id="rId19" Type="http://schemas.openxmlformats.org/officeDocument/2006/relationships/font" Target="fonts/Merriweather-bold.fntdata"/><Relationship Id="rId6" Type="http://schemas.openxmlformats.org/officeDocument/2006/relationships/slide" Target="slides/slide2.xml"/><Relationship Id="rId18" Type="http://schemas.openxmlformats.org/officeDocument/2006/relationships/font" Target="fonts/Merriweather-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45dbeba8f5_0_3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45dbeba8f5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Good morning everyone!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Two thinks sparked my deeper interest on the issue of cellphone in school. One was when I read a study that observed that the mere presence of a cellphone on a table causes a distraction regardless as to if it is powerd on. And another statistic, that was stunning to me, is that students </a:t>
            </a:r>
            <a:r>
              <a:rPr lang="en" sz="1400"/>
              <a:t>receive</a:t>
            </a:r>
            <a:r>
              <a:rPr lang="en" sz="1400"/>
              <a:t>, on average, over two hundred and fifty phone notifications daily.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chemeClr val="dk1"/>
                </a:solidFill>
              </a:rPr>
              <a:t>During the last two years Karen and Nick supported me to</a:t>
            </a:r>
            <a:r>
              <a:rPr lang="en" sz="1400"/>
              <a:t> further examine the the impact phones were having on our community and the impact of our new cell phone policy.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 created two surveys over the last two years. Thank you to everyone who responded.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I’m here to share the results of those surveys with you. </a:t>
            </a:r>
            <a:endParaRPr sz="1400"/>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72f49f4e0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72f49f4e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chemeClr val="dk1"/>
                </a:solidFill>
                <a:latin typeface="Roboto"/>
                <a:ea typeface="Roboto"/>
                <a:cs typeface="Roboto"/>
                <a:sym typeface="Roboto"/>
              </a:rPr>
              <a:t>In the November 2023 survey, we had 22 faculty respondents. </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400">
                <a:solidFill>
                  <a:schemeClr val="dk1"/>
                </a:solidFill>
                <a:latin typeface="Roboto"/>
                <a:ea typeface="Roboto"/>
                <a:cs typeface="Roboto"/>
                <a:sym typeface="Roboto"/>
              </a:rPr>
              <a:t>The 100% percent </a:t>
            </a:r>
            <a:r>
              <a:rPr lang="en" sz="1400">
                <a:solidFill>
                  <a:schemeClr val="dk1"/>
                </a:solidFill>
                <a:latin typeface="Roboto"/>
                <a:ea typeface="Roboto"/>
                <a:cs typeface="Roboto"/>
                <a:sym typeface="Roboto"/>
              </a:rPr>
              <a:t>statistic</a:t>
            </a:r>
            <a:r>
              <a:rPr lang="en" sz="1400">
                <a:solidFill>
                  <a:schemeClr val="dk1"/>
                </a:solidFill>
                <a:latin typeface="Roboto"/>
                <a:ea typeface="Roboto"/>
                <a:cs typeface="Roboto"/>
                <a:sym typeface="Roboto"/>
              </a:rPr>
              <a:t> here demonstrates that the </a:t>
            </a:r>
            <a:r>
              <a:rPr lang="en" sz="1400">
                <a:solidFill>
                  <a:schemeClr val="dk1"/>
                </a:solidFill>
                <a:latin typeface="Roboto"/>
                <a:ea typeface="Roboto"/>
                <a:cs typeface="Roboto"/>
                <a:sym typeface="Roboto"/>
              </a:rPr>
              <a:t>perceived</a:t>
            </a:r>
            <a:r>
              <a:rPr lang="en" sz="1400">
                <a:solidFill>
                  <a:schemeClr val="dk1"/>
                </a:solidFill>
                <a:latin typeface="Roboto"/>
                <a:ea typeface="Roboto"/>
                <a:cs typeface="Roboto"/>
                <a:sym typeface="Roboto"/>
              </a:rPr>
              <a:t> problem of phones around the school was reaching a critical mass.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400">
                <a:solidFill>
                  <a:schemeClr val="dk1"/>
                </a:solidFill>
                <a:latin typeface="Roboto"/>
                <a:ea typeface="Roboto"/>
                <a:cs typeface="Roboto"/>
                <a:sym typeface="Roboto"/>
              </a:rPr>
              <a:t>And 6 in 10 faculty believed smartphones had a detrimental effect on student’s mental health. This is especially concerning because of the importance we put on students mental health. There is so much work great work that goes into that by everyone here, especially the </a:t>
            </a:r>
            <a:r>
              <a:rPr lang="en" sz="1400">
                <a:solidFill>
                  <a:schemeClr val="dk1"/>
                </a:solidFill>
                <a:latin typeface="Roboto"/>
                <a:ea typeface="Roboto"/>
                <a:cs typeface="Roboto"/>
                <a:sym typeface="Roboto"/>
              </a:rPr>
              <a:t>counseling</a:t>
            </a:r>
            <a:r>
              <a:rPr lang="en" sz="1400">
                <a:solidFill>
                  <a:schemeClr val="dk1"/>
                </a:solidFill>
                <a:latin typeface="Roboto"/>
                <a:ea typeface="Roboto"/>
                <a:cs typeface="Roboto"/>
                <a:sym typeface="Roboto"/>
              </a:rPr>
              <a:t> office.</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400">
                <a:solidFill>
                  <a:schemeClr val="dk1"/>
                </a:solidFill>
                <a:latin typeface="Roboto"/>
                <a:ea typeface="Roboto"/>
                <a:cs typeface="Roboto"/>
                <a:sym typeface="Roboto"/>
              </a:rPr>
              <a:t>So, this 6 in 10 statistic highlights that phones could potentially be </a:t>
            </a:r>
            <a:r>
              <a:rPr lang="en" sz="1400">
                <a:solidFill>
                  <a:schemeClr val="dk1"/>
                </a:solidFill>
                <a:latin typeface="Roboto"/>
                <a:ea typeface="Roboto"/>
                <a:cs typeface="Roboto"/>
                <a:sym typeface="Roboto"/>
              </a:rPr>
              <a:t>undermining</a:t>
            </a:r>
            <a:r>
              <a:rPr lang="en" sz="1400">
                <a:solidFill>
                  <a:schemeClr val="dk1"/>
                </a:solidFill>
                <a:latin typeface="Roboto"/>
                <a:ea typeface="Roboto"/>
                <a:cs typeface="Roboto"/>
                <a:sym typeface="Roboto"/>
              </a:rPr>
              <a:t> our value of supporting students mental health.</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1200"/>
              </a:spcAft>
              <a:buClr>
                <a:schemeClr val="dk1"/>
              </a:buClr>
              <a:buSzPts val="1100"/>
              <a:buFont typeface="Arial"/>
              <a:buNone/>
            </a:pPr>
            <a:r>
              <a:rPr lang="en" sz="1400">
                <a:solidFill>
                  <a:schemeClr val="dk1"/>
                </a:solidFill>
                <a:latin typeface="Roboto"/>
                <a:ea typeface="Roboto"/>
                <a:cs typeface="Roboto"/>
                <a:sym typeface="Roboto"/>
              </a:rPr>
              <a:t>When these statistics are taken together I think this lines up with the ‘perceived crisis’ all schools were at at that point</a:t>
            </a:r>
            <a:endParaRPr sz="1400">
              <a:solidFill>
                <a:schemeClr val="dk1"/>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72f49f4e0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72f49f4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is some information about how our on-the-books policy was being enforced during this period.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official policy in the handbook was… and read that aaloud.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But I think what was way more telling is that 50% of faculty were uncomfortable confiscating a cell phone. So, if 50% of faculty were uncomfortable enforcing the policy, what does that say about the policy itself? It definitely validated that something needed to change.</a:t>
            </a:r>
            <a:endParaRPr sz="14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72f49f4e0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72f49f4e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Considering there was desire to outright ban cellphones by members of our community, it was important to gauge the actual support for this.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 was surprised by this survey result myself. It seemed with 40% opposed to a ban that an outright ban was untenable.</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5db6eddbc_0_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5db6eddb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chemeClr val="dk1"/>
                </a:solidFill>
                <a:latin typeface="Roboto"/>
                <a:ea typeface="Roboto"/>
                <a:cs typeface="Roboto"/>
                <a:sym typeface="Roboto"/>
              </a:rPr>
              <a:t>The second annual survey was conducted during the first week of November. After the new phone policy was introduced</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400">
                <a:solidFill>
                  <a:schemeClr val="dk1"/>
                </a:solidFill>
                <a:latin typeface="Roboto"/>
                <a:ea typeface="Roboto"/>
                <a:cs typeface="Roboto"/>
                <a:sym typeface="Roboto"/>
              </a:rPr>
              <a:t>There were thirty three respondents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1200"/>
              </a:spcAft>
              <a:buClr>
                <a:schemeClr val="dk1"/>
              </a:buClr>
              <a:buSzPts val="1100"/>
              <a:buFont typeface="Arial"/>
              <a:buNone/>
            </a:pPr>
            <a:r>
              <a:rPr lang="en" sz="1400">
                <a:solidFill>
                  <a:schemeClr val="dk1"/>
                </a:solidFill>
                <a:latin typeface="Roboto"/>
                <a:ea typeface="Roboto"/>
                <a:cs typeface="Roboto"/>
                <a:sym typeface="Roboto"/>
              </a:rPr>
              <a:t>While this number seems obvious, I was actually slightly surprised because of the stance against a phone ban from the last annual survey. However, admin was providing us with new policy that was now clear, </a:t>
            </a:r>
            <a:r>
              <a:rPr b="1" lang="en" sz="1400">
                <a:solidFill>
                  <a:schemeClr val="dk1"/>
                </a:solidFill>
                <a:latin typeface="Roboto"/>
                <a:ea typeface="Roboto"/>
                <a:cs typeface="Roboto"/>
                <a:sym typeface="Roboto"/>
              </a:rPr>
              <a:t>universal, and enforceable.</a:t>
            </a:r>
            <a:endParaRPr b="1" sz="14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72f49f4e0_0_7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72f49f4e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One question on the survey asked, &lt;read slide&gt;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majority of faculty said rarely or never. This was great! It validates a win for the new cell phone policy.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At the same time, 42% fall into the sometimes, often, or always needing to remind students to put their away. This is a sizeable number! It highlights a possible area for improvement.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If you are in the sometimes, often, or always camp feel free to send me an email and I can put you in touch with teachers in the Rarely or Never camp for a deeper conversation on this.</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35db6eddbc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35db6eddb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next question asked, &lt;read question&gt;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90% said that cellphones have never or rarely disrupted classrooms so far that semester.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This is great! It appears to show that when the phones </a:t>
            </a:r>
            <a:r>
              <a:rPr lang="en" sz="1400"/>
              <a:t>finally</a:t>
            </a:r>
            <a:r>
              <a:rPr lang="en" sz="1400"/>
              <a:t> go away that the policy is again yielding positive results. </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64b3a76f5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64b3a76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With all the seeming success of the new policy, it is still important to gather students perspectives.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was an excellent article in The Forum.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Unfortunately, it is clear that some students can still get around the policy.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At a deeper level, it highlights that the rate technology innovation will always outpace efforts to limit technology. Especially in this context.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I’m reminded of a famous economist who stated, “There are no solutions, only trade-offs”.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Barring an outright phone ban, To me, the loophole highlights that the issue of phones in school can’t ever be “solved”. And we should only be looking for the most optimal trade-offs.</a:t>
            </a: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5db6eddbc_0_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5db6eddb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t>Read the bullet points</a:t>
            </a:r>
            <a:endParaRPr sz="1400"/>
          </a:p>
          <a:p>
            <a:pPr indent="0" lvl="0" marL="0" rtl="0" algn="l">
              <a:lnSpc>
                <a:spcPct val="115000"/>
              </a:lnSpc>
              <a:spcBef>
                <a:spcPts val="1200"/>
              </a:spcBef>
              <a:spcAft>
                <a:spcPts val="0"/>
              </a:spcAft>
              <a:buClr>
                <a:schemeClr val="dk1"/>
              </a:buClr>
              <a:buSzPts val="1100"/>
              <a:buFont typeface="Arial"/>
              <a:buNone/>
            </a:pPr>
            <a:r>
              <a:rPr lang="en" sz="1400"/>
              <a:t>Big CONCLUSION: Distracting phones will present a continuous challenge in schools. A grand ‘solution’ is never possible. </a:t>
            </a:r>
            <a:endParaRPr sz="1400"/>
          </a:p>
          <a:p>
            <a:pPr indent="0" lvl="0" marL="0" rtl="0" algn="l">
              <a:lnSpc>
                <a:spcPct val="115000"/>
              </a:lnSpc>
              <a:spcBef>
                <a:spcPts val="1200"/>
              </a:spcBef>
              <a:spcAft>
                <a:spcPts val="0"/>
              </a:spcAft>
              <a:buClr>
                <a:schemeClr val="dk1"/>
              </a:buClr>
              <a:buSzPts val="1100"/>
              <a:buFont typeface="Arial"/>
              <a:buNone/>
            </a:pPr>
            <a:r>
              <a:rPr lang="en" sz="1400"/>
              <a:t>The best teachers today, and in the future, need to understand that their job is to create a classroom so invigorating that a student will realize that being present is more compelling than anything happening in the digital world. </a:t>
            </a:r>
            <a:endParaRPr sz="1400"/>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lt1"/>
              </a:buClr>
              <a:buSzPts val="1200"/>
              <a:buChar char="●"/>
              <a:defRPr sz="1200">
                <a:solidFill>
                  <a:schemeClr val="lt1"/>
                </a:solidFill>
              </a:defRPr>
            </a:lvl1pPr>
            <a:lvl2pPr indent="-304800" lvl="1" marL="914400" rtl="0">
              <a:spcBef>
                <a:spcPts val="0"/>
              </a:spcBef>
              <a:spcAft>
                <a:spcPts val="0"/>
              </a:spcAft>
              <a:buClr>
                <a:schemeClr val="lt1"/>
              </a:buClr>
              <a:buSzPts val="1200"/>
              <a:buChar char="○"/>
              <a:defRPr sz="1200">
                <a:solidFill>
                  <a:schemeClr val="lt1"/>
                </a:solidFill>
              </a:defRPr>
            </a:lvl2pPr>
            <a:lvl3pPr indent="-304800" lvl="2" marL="1371600" rtl="0">
              <a:spcBef>
                <a:spcPts val="0"/>
              </a:spcBef>
              <a:spcAft>
                <a:spcPts val="0"/>
              </a:spcAft>
              <a:buClr>
                <a:schemeClr val="lt1"/>
              </a:buClr>
              <a:buSzPts val="1200"/>
              <a:buChar char="■"/>
              <a:defRPr sz="1200">
                <a:solidFill>
                  <a:schemeClr val="lt1"/>
                </a:solidFill>
              </a:defRPr>
            </a:lvl3pPr>
            <a:lvl4pPr indent="-304800" lvl="3" marL="1828800" rtl="0">
              <a:spcBef>
                <a:spcPts val="0"/>
              </a:spcBef>
              <a:spcAft>
                <a:spcPts val="0"/>
              </a:spcAft>
              <a:buClr>
                <a:schemeClr val="lt1"/>
              </a:buClr>
              <a:buSzPts val="1200"/>
              <a:buChar char="●"/>
              <a:defRPr sz="1200">
                <a:solidFill>
                  <a:schemeClr val="lt1"/>
                </a:solidFill>
              </a:defRPr>
            </a:lvl4pPr>
            <a:lvl5pPr indent="-304800" lvl="4" marL="2286000" rtl="0">
              <a:spcBef>
                <a:spcPts val="0"/>
              </a:spcBef>
              <a:spcAft>
                <a:spcPts val="0"/>
              </a:spcAft>
              <a:buClr>
                <a:schemeClr val="lt1"/>
              </a:buClr>
              <a:buSzPts val="1200"/>
              <a:buChar char="○"/>
              <a:defRPr sz="1200">
                <a:solidFill>
                  <a:schemeClr val="lt1"/>
                </a:solidFill>
              </a:defRPr>
            </a:lvl5pPr>
            <a:lvl6pPr indent="-304800" lvl="5" marL="2743200" rtl="0">
              <a:spcBef>
                <a:spcPts val="0"/>
              </a:spcBef>
              <a:spcAft>
                <a:spcPts val="0"/>
              </a:spcAft>
              <a:buClr>
                <a:schemeClr val="lt1"/>
              </a:buClr>
              <a:buSzPts val="1200"/>
              <a:buChar char="■"/>
              <a:defRPr sz="1200">
                <a:solidFill>
                  <a:schemeClr val="lt1"/>
                </a:solidFill>
              </a:defRPr>
            </a:lvl6pPr>
            <a:lvl7pPr indent="-304800" lvl="6" marL="3200400" rtl="0">
              <a:spcBef>
                <a:spcPts val="0"/>
              </a:spcBef>
              <a:spcAft>
                <a:spcPts val="0"/>
              </a:spcAft>
              <a:buClr>
                <a:schemeClr val="lt1"/>
              </a:buClr>
              <a:buSzPts val="1200"/>
              <a:buChar char="●"/>
              <a:defRPr sz="1200">
                <a:solidFill>
                  <a:schemeClr val="lt1"/>
                </a:solidFill>
              </a:defRPr>
            </a:lvl7pPr>
            <a:lvl8pPr indent="-304800" lvl="7" marL="3657600" rtl="0">
              <a:spcBef>
                <a:spcPts val="0"/>
              </a:spcBef>
              <a:spcAft>
                <a:spcPts val="0"/>
              </a:spcAft>
              <a:buClr>
                <a:schemeClr val="lt1"/>
              </a:buClr>
              <a:buSzPts val="1200"/>
              <a:buChar char="○"/>
              <a:defRPr sz="1200">
                <a:solidFill>
                  <a:schemeClr val="lt1"/>
                </a:solidFill>
              </a:defRPr>
            </a:lvl8pPr>
            <a:lvl9pPr indent="-304800" lvl="8" marL="4114800" rtl="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dk2"/>
              </a:buClr>
              <a:buSzPts val="4200"/>
              <a:buNone/>
              <a:defRPr sz="4200">
                <a:solidFill>
                  <a:schemeClr val="dk2"/>
                </a:solidFill>
              </a:defRPr>
            </a:lvl1pPr>
            <a:lvl2pPr lvl="1" rtl="0" algn="ctr">
              <a:spcBef>
                <a:spcPts val="0"/>
              </a:spcBef>
              <a:spcAft>
                <a:spcPts val="0"/>
              </a:spcAft>
              <a:buClr>
                <a:schemeClr val="dk2"/>
              </a:buClr>
              <a:buSzPts val="4200"/>
              <a:buNone/>
              <a:defRPr sz="4200">
                <a:solidFill>
                  <a:schemeClr val="dk2"/>
                </a:solidFill>
              </a:defRPr>
            </a:lvl2pPr>
            <a:lvl3pPr lvl="2" rtl="0" algn="ctr">
              <a:spcBef>
                <a:spcPts val="0"/>
              </a:spcBef>
              <a:spcAft>
                <a:spcPts val="0"/>
              </a:spcAft>
              <a:buClr>
                <a:schemeClr val="dk2"/>
              </a:buClr>
              <a:buSzPts val="4200"/>
              <a:buNone/>
              <a:defRPr sz="4200">
                <a:solidFill>
                  <a:schemeClr val="dk2"/>
                </a:solidFill>
              </a:defRPr>
            </a:lvl3pPr>
            <a:lvl4pPr lvl="3" rtl="0" algn="ctr">
              <a:spcBef>
                <a:spcPts val="0"/>
              </a:spcBef>
              <a:spcAft>
                <a:spcPts val="0"/>
              </a:spcAft>
              <a:buClr>
                <a:schemeClr val="dk2"/>
              </a:buClr>
              <a:buSzPts val="4200"/>
              <a:buNone/>
              <a:defRPr sz="4200">
                <a:solidFill>
                  <a:schemeClr val="dk2"/>
                </a:solidFill>
              </a:defRPr>
            </a:lvl4pPr>
            <a:lvl5pPr lvl="4" rtl="0" algn="ctr">
              <a:spcBef>
                <a:spcPts val="0"/>
              </a:spcBef>
              <a:spcAft>
                <a:spcPts val="0"/>
              </a:spcAft>
              <a:buClr>
                <a:schemeClr val="dk2"/>
              </a:buClr>
              <a:buSzPts val="4200"/>
              <a:buNone/>
              <a:defRPr sz="4200">
                <a:solidFill>
                  <a:schemeClr val="dk2"/>
                </a:solidFill>
              </a:defRPr>
            </a:lvl5pPr>
            <a:lvl6pPr lvl="5" rtl="0" algn="ctr">
              <a:spcBef>
                <a:spcPts val="0"/>
              </a:spcBef>
              <a:spcAft>
                <a:spcPts val="0"/>
              </a:spcAft>
              <a:buClr>
                <a:schemeClr val="dk2"/>
              </a:buClr>
              <a:buSzPts val="4200"/>
              <a:buNone/>
              <a:defRPr sz="4200">
                <a:solidFill>
                  <a:schemeClr val="dk2"/>
                </a:solidFill>
              </a:defRPr>
            </a:lvl6pPr>
            <a:lvl7pPr lvl="6" rtl="0" algn="ctr">
              <a:spcBef>
                <a:spcPts val="0"/>
              </a:spcBef>
              <a:spcAft>
                <a:spcPts val="0"/>
              </a:spcAft>
              <a:buClr>
                <a:schemeClr val="dk2"/>
              </a:buClr>
              <a:buSzPts val="4200"/>
              <a:buNone/>
              <a:defRPr sz="4200">
                <a:solidFill>
                  <a:schemeClr val="dk2"/>
                </a:solidFill>
              </a:defRPr>
            </a:lvl7pPr>
            <a:lvl8pPr lvl="7" rtl="0" algn="ctr">
              <a:spcBef>
                <a:spcPts val="0"/>
              </a:spcBef>
              <a:spcAft>
                <a:spcPts val="0"/>
              </a:spcAft>
              <a:buClr>
                <a:schemeClr val="dk2"/>
              </a:buClr>
              <a:buSzPts val="4200"/>
              <a:buNone/>
              <a:defRPr sz="4200">
                <a:solidFill>
                  <a:schemeClr val="dk2"/>
                </a:solidFill>
              </a:defRPr>
            </a:lvl8pPr>
            <a:lvl9pPr lvl="8" rtl="0"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chemeClr val="dk2"/>
              </a:buClr>
              <a:buSzPts val="12000"/>
              <a:buNone/>
              <a:defRPr sz="12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rtl="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2"/>
                </a:solidFill>
                <a:latin typeface="Roboto"/>
                <a:ea typeface="Roboto"/>
                <a:cs typeface="Roboto"/>
                <a:sym typeface="Roboto"/>
              </a:defRPr>
            </a:lvl1pPr>
            <a:lvl2pPr lvl="1" rtl="0" algn="r">
              <a:buNone/>
              <a:defRPr sz="1000">
                <a:solidFill>
                  <a:schemeClr val="lt2"/>
                </a:solidFill>
                <a:latin typeface="Roboto"/>
                <a:ea typeface="Roboto"/>
                <a:cs typeface="Roboto"/>
                <a:sym typeface="Roboto"/>
              </a:defRPr>
            </a:lvl2pPr>
            <a:lvl3pPr lvl="2" rtl="0" algn="r">
              <a:buNone/>
              <a:defRPr sz="1000">
                <a:solidFill>
                  <a:schemeClr val="lt2"/>
                </a:solidFill>
                <a:latin typeface="Roboto"/>
                <a:ea typeface="Roboto"/>
                <a:cs typeface="Roboto"/>
                <a:sym typeface="Roboto"/>
              </a:defRPr>
            </a:lvl3pPr>
            <a:lvl4pPr lvl="3" rtl="0" algn="r">
              <a:buNone/>
              <a:defRPr sz="1000">
                <a:solidFill>
                  <a:schemeClr val="lt2"/>
                </a:solidFill>
                <a:latin typeface="Roboto"/>
                <a:ea typeface="Roboto"/>
                <a:cs typeface="Roboto"/>
                <a:sym typeface="Roboto"/>
              </a:defRPr>
            </a:lvl4pPr>
            <a:lvl5pPr lvl="4" rtl="0" algn="r">
              <a:buNone/>
              <a:defRPr sz="1000">
                <a:solidFill>
                  <a:schemeClr val="lt2"/>
                </a:solidFill>
                <a:latin typeface="Roboto"/>
                <a:ea typeface="Roboto"/>
                <a:cs typeface="Roboto"/>
                <a:sym typeface="Roboto"/>
              </a:defRPr>
            </a:lvl5pPr>
            <a:lvl6pPr lvl="5" rtl="0" algn="r">
              <a:buNone/>
              <a:defRPr sz="1000">
                <a:solidFill>
                  <a:schemeClr val="lt2"/>
                </a:solidFill>
                <a:latin typeface="Roboto"/>
                <a:ea typeface="Roboto"/>
                <a:cs typeface="Roboto"/>
                <a:sym typeface="Roboto"/>
              </a:defRPr>
            </a:lvl6pPr>
            <a:lvl7pPr lvl="6" rtl="0" algn="r">
              <a:buNone/>
              <a:defRPr sz="1000">
                <a:solidFill>
                  <a:schemeClr val="lt2"/>
                </a:solidFill>
                <a:latin typeface="Roboto"/>
                <a:ea typeface="Roboto"/>
                <a:cs typeface="Roboto"/>
                <a:sym typeface="Roboto"/>
              </a:defRPr>
            </a:lvl7pPr>
            <a:lvl8pPr lvl="7" rtl="0" algn="r">
              <a:buNone/>
              <a:defRPr sz="1000">
                <a:solidFill>
                  <a:schemeClr val="lt2"/>
                </a:solidFill>
                <a:latin typeface="Roboto"/>
                <a:ea typeface="Roboto"/>
                <a:cs typeface="Roboto"/>
                <a:sym typeface="Roboto"/>
              </a:defRPr>
            </a:lvl8pPr>
            <a:lvl9pPr lvl="8" rtl="0"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983938"/>
            <a:ext cx="63234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solidFill>
                  <a:srgbClr val="1E427D"/>
                </a:solidFill>
                <a:latin typeface="Merriweather"/>
                <a:ea typeface="Merriweather"/>
                <a:cs typeface="Merriweather"/>
                <a:sym typeface="Merriweather"/>
              </a:rPr>
              <a:t>Cell Phone</a:t>
            </a:r>
            <a:r>
              <a:rPr lang="en">
                <a:solidFill>
                  <a:srgbClr val="1E427D"/>
                </a:solidFill>
                <a:latin typeface="Merriweather"/>
                <a:ea typeface="Merriweather"/>
                <a:cs typeface="Merriweather"/>
                <a:sym typeface="Merriweather"/>
              </a:rPr>
              <a:t> Policy Survey Results</a:t>
            </a:r>
            <a:endParaRPr>
              <a:solidFill>
                <a:srgbClr val="1E427D"/>
              </a:solidFill>
              <a:latin typeface="Merriweather"/>
              <a:ea typeface="Merriweather"/>
              <a:cs typeface="Merriweather"/>
              <a:sym typeface="Merriweather"/>
            </a:endParaRPr>
          </a:p>
        </p:txBody>
      </p:sp>
      <p:pic>
        <p:nvPicPr>
          <p:cNvPr id="68" name="Google Shape;68;p13"/>
          <p:cNvPicPr preferRelativeResize="0"/>
          <p:nvPr/>
        </p:nvPicPr>
        <p:blipFill>
          <a:blip r:embed="rId3">
            <a:alphaModFix/>
          </a:blip>
          <a:stretch>
            <a:fillRect/>
          </a:stretch>
        </p:blipFill>
        <p:spPr>
          <a:xfrm>
            <a:off x="390525" y="153962"/>
            <a:ext cx="2743199" cy="932688"/>
          </a:xfrm>
          <a:prstGeom prst="rect">
            <a:avLst/>
          </a:prstGeom>
          <a:noFill/>
          <a:ln>
            <a:noFill/>
          </a:ln>
        </p:spPr>
      </p:pic>
      <p:pic>
        <p:nvPicPr>
          <p:cNvPr id="69" name="Google Shape;69;p13"/>
          <p:cNvPicPr preferRelativeResize="0"/>
          <p:nvPr/>
        </p:nvPicPr>
        <p:blipFill>
          <a:blip r:embed="rId4">
            <a:alphaModFix/>
          </a:blip>
          <a:stretch>
            <a:fillRect/>
          </a:stretch>
        </p:blipFill>
        <p:spPr>
          <a:xfrm>
            <a:off x="5461451" y="1366725"/>
            <a:ext cx="3193875" cy="3199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73" name="Shape 73"/>
        <p:cNvGrpSpPr/>
        <p:nvPr/>
      </p:nvGrpSpPr>
      <p:grpSpPr>
        <a:xfrm>
          <a:off x="0" y="0"/>
          <a:ext cx="0" cy="0"/>
          <a:chOff x="0" y="0"/>
          <a:chExt cx="0" cy="0"/>
        </a:xfrm>
      </p:grpSpPr>
      <p:sp>
        <p:nvSpPr>
          <p:cNvPr id="74" name="Google Shape;74;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Nov. 2023 Survey</a:t>
            </a:r>
            <a:endParaRPr>
              <a:latin typeface="Merriweather"/>
              <a:ea typeface="Merriweather"/>
              <a:cs typeface="Merriweather"/>
              <a:sym typeface="Merriweather"/>
            </a:endParaRPr>
          </a:p>
        </p:txBody>
      </p:sp>
      <p:pic>
        <p:nvPicPr>
          <p:cNvPr id="75" name="Google Shape;75;p14"/>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76" name="Google Shape;76;p14"/>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77" name="Google Shape;77;p14"/>
          <p:cNvPicPr preferRelativeResize="0"/>
          <p:nvPr/>
        </p:nvPicPr>
        <p:blipFill>
          <a:blip r:embed="rId4">
            <a:alphaModFix/>
          </a:blip>
          <a:stretch>
            <a:fillRect/>
          </a:stretch>
        </p:blipFill>
        <p:spPr>
          <a:xfrm>
            <a:off x="1555190" y="3075263"/>
            <a:ext cx="6078507" cy="1481937"/>
          </a:xfrm>
          <a:prstGeom prst="rect">
            <a:avLst/>
          </a:prstGeom>
          <a:noFill/>
          <a:ln>
            <a:noFill/>
          </a:ln>
        </p:spPr>
      </p:pic>
      <p:pic>
        <p:nvPicPr>
          <p:cNvPr id="78" name="Google Shape;78;p14"/>
          <p:cNvPicPr preferRelativeResize="0"/>
          <p:nvPr/>
        </p:nvPicPr>
        <p:blipFill>
          <a:blip r:embed="rId5">
            <a:alphaModFix/>
          </a:blip>
          <a:stretch>
            <a:fillRect/>
          </a:stretch>
        </p:blipFill>
        <p:spPr>
          <a:xfrm>
            <a:off x="420725" y="880995"/>
            <a:ext cx="3925901" cy="1389924"/>
          </a:xfrm>
          <a:prstGeom prst="rect">
            <a:avLst/>
          </a:prstGeom>
          <a:noFill/>
          <a:ln>
            <a:noFill/>
          </a:ln>
        </p:spPr>
      </p:pic>
      <p:pic>
        <p:nvPicPr>
          <p:cNvPr id="79" name="Google Shape;79;p14"/>
          <p:cNvPicPr preferRelativeResize="0"/>
          <p:nvPr/>
        </p:nvPicPr>
        <p:blipFill>
          <a:blip r:embed="rId6">
            <a:alphaModFix/>
          </a:blip>
          <a:stretch>
            <a:fillRect/>
          </a:stretch>
        </p:blipFill>
        <p:spPr>
          <a:xfrm>
            <a:off x="5197376" y="891300"/>
            <a:ext cx="3807823" cy="1369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83" name="Shape 83"/>
        <p:cNvGrpSpPr/>
        <p:nvPr/>
      </p:nvGrpSpPr>
      <p:grpSpPr>
        <a:xfrm>
          <a:off x="0" y="0"/>
          <a:ext cx="0" cy="0"/>
          <a:chOff x="0" y="0"/>
          <a:chExt cx="0" cy="0"/>
        </a:xfrm>
      </p:grpSpPr>
      <p:sp>
        <p:nvSpPr>
          <p:cNvPr id="84" name="Google Shape;84;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Nov. 2023 Survey</a:t>
            </a:r>
            <a:endParaRPr>
              <a:latin typeface="Merriweather"/>
              <a:ea typeface="Merriweather"/>
              <a:cs typeface="Merriweather"/>
              <a:sym typeface="Merriweather"/>
            </a:endParaRPr>
          </a:p>
        </p:txBody>
      </p:sp>
      <p:pic>
        <p:nvPicPr>
          <p:cNvPr id="85" name="Google Shape;85;p15"/>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86" name="Google Shape;86;p15"/>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87" name="Google Shape;87;p15"/>
          <p:cNvPicPr preferRelativeResize="0"/>
          <p:nvPr/>
        </p:nvPicPr>
        <p:blipFill>
          <a:blip r:embed="rId4">
            <a:alphaModFix/>
          </a:blip>
          <a:stretch>
            <a:fillRect/>
          </a:stretch>
        </p:blipFill>
        <p:spPr>
          <a:xfrm>
            <a:off x="1486600" y="771450"/>
            <a:ext cx="6049892" cy="3957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91" name="Shape 91"/>
        <p:cNvGrpSpPr/>
        <p:nvPr/>
      </p:nvGrpSpPr>
      <p:grpSpPr>
        <a:xfrm>
          <a:off x="0" y="0"/>
          <a:ext cx="0" cy="0"/>
          <a:chOff x="0" y="0"/>
          <a:chExt cx="0" cy="0"/>
        </a:xfrm>
      </p:grpSpPr>
      <p:sp>
        <p:nvSpPr>
          <p:cNvPr id="92" name="Google Shape;92;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Nov. 2023 Survey</a:t>
            </a:r>
            <a:endParaRPr>
              <a:latin typeface="Merriweather"/>
              <a:ea typeface="Merriweather"/>
              <a:cs typeface="Merriweather"/>
              <a:sym typeface="Merriweather"/>
            </a:endParaRPr>
          </a:p>
        </p:txBody>
      </p:sp>
      <p:pic>
        <p:nvPicPr>
          <p:cNvPr id="93" name="Google Shape;93;p16"/>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94" name="Google Shape;94;p16"/>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95" name="Google Shape;95;p16"/>
          <p:cNvPicPr preferRelativeResize="0"/>
          <p:nvPr/>
        </p:nvPicPr>
        <p:blipFill>
          <a:blip r:embed="rId4">
            <a:alphaModFix/>
          </a:blip>
          <a:stretch>
            <a:fillRect/>
          </a:stretch>
        </p:blipFill>
        <p:spPr>
          <a:xfrm>
            <a:off x="2242875" y="771450"/>
            <a:ext cx="4658258" cy="3957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99" name="Shape 99"/>
        <p:cNvGrpSpPr/>
        <p:nvPr/>
      </p:nvGrpSpPr>
      <p:grpSpPr>
        <a:xfrm>
          <a:off x="0" y="0"/>
          <a:ext cx="0" cy="0"/>
          <a:chOff x="0" y="0"/>
          <a:chExt cx="0" cy="0"/>
        </a:xfrm>
      </p:grpSpPr>
      <p:sp>
        <p:nvSpPr>
          <p:cNvPr id="100" name="Google Shape;100;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Survey 2 - Nov. 2024 - 33 Respondents</a:t>
            </a:r>
            <a:endParaRPr>
              <a:latin typeface="Merriweather"/>
              <a:ea typeface="Merriweather"/>
              <a:cs typeface="Merriweather"/>
              <a:sym typeface="Merriweather"/>
            </a:endParaRPr>
          </a:p>
        </p:txBody>
      </p:sp>
      <p:pic>
        <p:nvPicPr>
          <p:cNvPr id="101" name="Google Shape;101;p17"/>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102" name="Google Shape;102;p17"/>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103" name="Google Shape;103;p17"/>
          <p:cNvPicPr preferRelativeResize="0"/>
          <p:nvPr/>
        </p:nvPicPr>
        <p:blipFill>
          <a:blip r:embed="rId4">
            <a:alphaModFix/>
          </a:blip>
          <a:stretch>
            <a:fillRect/>
          </a:stretch>
        </p:blipFill>
        <p:spPr>
          <a:xfrm>
            <a:off x="1496501" y="2038777"/>
            <a:ext cx="6151000" cy="1897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107" name="Shape 107"/>
        <p:cNvGrpSpPr/>
        <p:nvPr/>
      </p:nvGrpSpPr>
      <p:grpSpPr>
        <a:xfrm>
          <a:off x="0" y="0"/>
          <a:ext cx="0" cy="0"/>
          <a:chOff x="0" y="0"/>
          <a:chExt cx="0" cy="0"/>
        </a:xfrm>
      </p:grpSpPr>
      <p:sp>
        <p:nvSpPr>
          <p:cNvPr id="108" name="Google Shape;108;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Nov. 2024 Survey</a:t>
            </a:r>
            <a:endParaRPr>
              <a:latin typeface="Merriweather"/>
              <a:ea typeface="Merriweather"/>
              <a:cs typeface="Merriweather"/>
              <a:sym typeface="Merriweather"/>
            </a:endParaRPr>
          </a:p>
        </p:txBody>
      </p:sp>
      <p:pic>
        <p:nvPicPr>
          <p:cNvPr id="109" name="Google Shape;109;p18"/>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110" name="Google Shape;110;p18"/>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111" name="Google Shape;111;p18"/>
          <p:cNvPicPr preferRelativeResize="0"/>
          <p:nvPr/>
        </p:nvPicPr>
        <p:blipFill>
          <a:blip r:embed="rId4">
            <a:alphaModFix/>
          </a:blip>
          <a:stretch>
            <a:fillRect/>
          </a:stretch>
        </p:blipFill>
        <p:spPr>
          <a:xfrm>
            <a:off x="2120250" y="923850"/>
            <a:ext cx="4948402" cy="3957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115" name="Shape 115"/>
        <p:cNvGrpSpPr/>
        <p:nvPr/>
      </p:nvGrpSpPr>
      <p:grpSpPr>
        <a:xfrm>
          <a:off x="0" y="0"/>
          <a:ext cx="0" cy="0"/>
          <a:chOff x="0" y="0"/>
          <a:chExt cx="0" cy="0"/>
        </a:xfrm>
      </p:grpSpPr>
      <p:sp>
        <p:nvSpPr>
          <p:cNvPr id="116" name="Google Shape;116;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Nov. 2024 Survey</a:t>
            </a:r>
            <a:endParaRPr>
              <a:latin typeface="Merriweather"/>
              <a:ea typeface="Merriweather"/>
              <a:cs typeface="Merriweather"/>
              <a:sym typeface="Merriweather"/>
            </a:endParaRPr>
          </a:p>
        </p:txBody>
      </p:sp>
      <p:pic>
        <p:nvPicPr>
          <p:cNvPr id="117" name="Google Shape;117;p19"/>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118" name="Google Shape;118;p19"/>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pic>
        <p:nvPicPr>
          <p:cNvPr id="119" name="Google Shape;119;p19"/>
          <p:cNvPicPr preferRelativeResize="0"/>
          <p:nvPr/>
        </p:nvPicPr>
        <p:blipFill>
          <a:blip r:embed="rId4">
            <a:alphaModFix/>
          </a:blip>
          <a:stretch>
            <a:fillRect/>
          </a:stretch>
        </p:blipFill>
        <p:spPr>
          <a:xfrm>
            <a:off x="2097800" y="923850"/>
            <a:ext cx="4948402" cy="3957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123" name="Shape 123"/>
        <p:cNvGrpSpPr/>
        <p:nvPr/>
      </p:nvGrpSpPr>
      <p:grpSpPr>
        <a:xfrm>
          <a:off x="0" y="0"/>
          <a:ext cx="0" cy="0"/>
          <a:chOff x="0" y="0"/>
          <a:chExt cx="0" cy="0"/>
        </a:xfrm>
      </p:grpSpPr>
      <p:sp>
        <p:nvSpPr>
          <p:cNvPr id="124" name="Google Shape;124;p20"/>
          <p:cNvSpPr txBox="1"/>
          <p:nvPr>
            <p:ph idx="4294967295" type="title"/>
          </p:nvPr>
        </p:nvSpPr>
        <p:spPr>
          <a:xfrm>
            <a:off x="490250" y="488250"/>
            <a:ext cx="6227100" cy="4090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F37027"/>
                </a:solidFill>
              </a:rPr>
              <a:t>Title</a:t>
            </a:r>
            <a:endParaRPr>
              <a:solidFill>
                <a:srgbClr val="F37027"/>
              </a:solidFill>
            </a:endParaRPr>
          </a:p>
        </p:txBody>
      </p:sp>
      <p:sp>
        <p:nvSpPr>
          <p:cNvPr id="125" name="Google Shape;125;p20"/>
          <p:cNvSpPr txBox="1"/>
          <p:nvPr>
            <p:ph idx="1" type="body"/>
          </p:nvPr>
        </p:nvSpPr>
        <p:spPr>
          <a:xfrm>
            <a:off x="162275" y="4696825"/>
            <a:ext cx="73275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Text</a:t>
            </a:r>
            <a:endParaRPr/>
          </a:p>
        </p:txBody>
      </p:sp>
      <p:cxnSp>
        <p:nvCxnSpPr>
          <p:cNvPr id="126" name="Google Shape;126;p20"/>
          <p:cNvCxnSpPr/>
          <p:nvPr/>
        </p:nvCxnSpPr>
        <p:spPr>
          <a:xfrm flipH="1" rot="10800000">
            <a:off x="266950" y="157150"/>
            <a:ext cx="8655000" cy="23400"/>
          </a:xfrm>
          <a:prstGeom prst="straightConnector1">
            <a:avLst/>
          </a:prstGeom>
          <a:noFill/>
          <a:ln cap="flat" cmpd="sng" w="28575">
            <a:solidFill>
              <a:srgbClr val="F37027"/>
            </a:solidFill>
            <a:prstDash val="solid"/>
            <a:round/>
            <a:headEnd len="med" w="med" type="none"/>
            <a:tailEnd len="med" w="med" type="none"/>
          </a:ln>
        </p:spPr>
      </p:cxnSp>
      <p:pic>
        <p:nvPicPr>
          <p:cNvPr id="127" name="Google Shape;127;p20"/>
          <p:cNvPicPr preferRelativeResize="0"/>
          <p:nvPr/>
        </p:nvPicPr>
        <p:blipFill>
          <a:blip r:embed="rId3">
            <a:alphaModFix/>
          </a:blip>
          <a:stretch>
            <a:fillRect/>
          </a:stretch>
        </p:blipFill>
        <p:spPr>
          <a:xfrm>
            <a:off x="7360775" y="4732737"/>
            <a:ext cx="1097283" cy="371387"/>
          </a:xfrm>
          <a:prstGeom prst="rect">
            <a:avLst/>
          </a:prstGeom>
          <a:noFill/>
          <a:ln>
            <a:noFill/>
          </a:ln>
        </p:spPr>
      </p:pic>
      <p:pic>
        <p:nvPicPr>
          <p:cNvPr id="128" name="Google Shape;128;p20"/>
          <p:cNvPicPr preferRelativeResize="0"/>
          <p:nvPr/>
        </p:nvPicPr>
        <p:blipFill>
          <a:blip r:embed="rId4">
            <a:alphaModFix/>
          </a:blip>
          <a:stretch>
            <a:fillRect/>
          </a:stretch>
        </p:blipFill>
        <p:spPr>
          <a:xfrm>
            <a:off x="0" y="26789"/>
            <a:ext cx="9144003" cy="50899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427D"/>
        </a:solidFill>
      </p:bgPr>
    </p:bg>
    <p:spTree>
      <p:nvGrpSpPr>
        <p:cNvPr id="132" name="Shape 132"/>
        <p:cNvGrpSpPr/>
        <p:nvPr/>
      </p:nvGrpSpPr>
      <p:grpSpPr>
        <a:xfrm>
          <a:off x="0" y="0"/>
          <a:ext cx="0" cy="0"/>
          <a:chOff x="0" y="0"/>
          <a:chExt cx="0" cy="0"/>
        </a:xfrm>
      </p:grpSpPr>
      <p:sp>
        <p:nvSpPr>
          <p:cNvPr id="133" name="Google Shape;133;p21"/>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Conclusion</a:t>
            </a:r>
            <a:endParaRPr>
              <a:latin typeface="Merriweather"/>
              <a:ea typeface="Merriweather"/>
              <a:cs typeface="Merriweather"/>
              <a:sym typeface="Merriweather"/>
            </a:endParaRPr>
          </a:p>
        </p:txBody>
      </p:sp>
      <p:pic>
        <p:nvPicPr>
          <p:cNvPr id="134" name="Google Shape;134;p21"/>
          <p:cNvPicPr preferRelativeResize="0"/>
          <p:nvPr/>
        </p:nvPicPr>
        <p:blipFill>
          <a:blip r:embed="rId3">
            <a:alphaModFix/>
          </a:blip>
          <a:stretch>
            <a:fillRect/>
          </a:stretch>
        </p:blipFill>
        <p:spPr>
          <a:xfrm>
            <a:off x="7360775" y="84537"/>
            <a:ext cx="1371602" cy="466345"/>
          </a:xfrm>
          <a:prstGeom prst="rect">
            <a:avLst/>
          </a:prstGeom>
          <a:noFill/>
          <a:ln>
            <a:noFill/>
          </a:ln>
        </p:spPr>
      </p:pic>
      <p:cxnSp>
        <p:nvCxnSpPr>
          <p:cNvPr id="135" name="Google Shape;135;p21"/>
          <p:cNvCxnSpPr/>
          <p:nvPr/>
        </p:nvCxnSpPr>
        <p:spPr>
          <a:xfrm flipH="1" rot="10800000">
            <a:off x="266950" y="4881550"/>
            <a:ext cx="8655000" cy="23400"/>
          </a:xfrm>
          <a:prstGeom prst="straightConnector1">
            <a:avLst/>
          </a:prstGeom>
          <a:noFill/>
          <a:ln cap="flat" cmpd="sng" w="28575">
            <a:solidFill>
              <a:srgbClr val="1E427D"/>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